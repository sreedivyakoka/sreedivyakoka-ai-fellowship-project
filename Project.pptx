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ppt/tags/tag13.xml" ContentType="application/vnd.openxmlformats-officedocument.presentationml.tags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notesSlides/notesSlide10.xml" ContentType="application/vnd.openxmlformats-officedocument.presentationml.notesSlide+xml"/>
  <Override PartName="/ppt/tags/tag15.xml" ContentType="application/vnd.openxmlformats-officedocument.presentationml.tags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custDataLst>
    <p:tags r:id="rId14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2" userDrawn="1">
          <p15:clr>
            <a:srgbClr val="A4A3A4"/>
          </p15:clr>
        </p15:guide>
        <p15:guide id="2" orient="horz" pos="852" userDrawn="1">
          <p15:clr>
            <a:srgbClr val="A4A3A4"/>
          </p15:clr>
        </p15:guide>
        <p15:guide id="3" pos="1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ED"/>
    <a:srgbClr val="CEE3FA"/>
    <a:srgbClr val="1565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CBDC38-0F0C-EF0A-5169-FC033B4B9FA1}" v="4" dt="2026-02-19T06:35:51.132"/>
    <p1510:client id="{DDC0B4EE-2D5D-447B-AE11-6BA75CAE74F0}" v="57" dt="2026-02-19T11:04:26.3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849" autoAdjust="0"/>
  </p:normalViewPr>
  <p:slideViewPr>
    <p:cSldViewPr snapToGrid="0" snapToObjects="1">
      <p:cViewPr>
        <p:scale>
          <a:sx n="66" d="100"/>
          <a:sy n="66" d="100"/>
        </p:scale>
        <p:origin x="1280" y="800"/>
      </p:cViewPr>
      <p:guideLst>
        <p:guide orient="horz" pos="612"/>
        <p:guide orient="horz" pos="852"/>
        <p:guide pos="1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654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B537A-B4DE-D1CE-3512-BCBDE4AC7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8C2033-F357-E6BE-5BF1-877BC1AD1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567B0F-4F1D-ECFE-050E-B551ABF85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9889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652038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A68FA2BF-9B6A-948D-43A3-04C207F5B33C}"/>
              </a:ext>
            </a:extLst>
          </p:cNvPr>
          <p:cNvGrpSpPr/>
          <p:nvPr userDrawn="1"/>
        </p:nvGrpSpPr>
        <p:grpSpPr>
          <a:xfrm flipH="1">
            <a:off x="0" y="5036127"/>
            <a:ext cx="9144000" cy="107373"/>
            <a:chOff x="0" y="0"/>
            <a:chExt cx="4402382" cy="66464"/>
          </a:xfrm>
        </p:grpSpPr>
        <p:sp>
          <p:nvSpPr>
            <p:cNvPr id="3" name="Freeform 9">
              <a:extLst>
                <a:ext uri="{FF2B5EF4-FFF2-40B4-BE49-F238E27FC236}">
                  <a16:creationId xmlns:a16="http://schemas.microsoft.com/office/drawing/2014/main" id="{8B83B97F-BA22-827B-E1BD-8DD9E1D3E0F6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10">
              <a:extLst>
                <a:ext uri="{FF2B5EF4-FFF2-40B4-BE49-F238E27FC236}">
                  <a16:creationId xmlns:a16="http://schemas.microsoft.com/office/drawing/2014/main" id="{FC94FAC8-E161-FF7D-84BF-C498EADA502D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1988876B-43B4-642F-AB10-8B137A34386D}"/>
              </a:ext>
            </a:extLst>
          </p:cNvPr>
          <p:cNvGrpSpPr/>
          <p:nvPr userDrawn="1"/>
        </p:nvGrpSpPr>
        <p:grpSpPr>
          <a:xfrm>
            <a:off x="0" y="0"/>
            <a:ext cx="9144000" cy="424206"/>
            <a:chOff x="0" y="0"/>
            <a:chExt cx="4402382" cy="66464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613EFC18-F90F-C121-3F09-53AB8141D658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D81422F7-8BE4-EC53-5307-9812E24315C1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31AC86FC-94F1-13A5-98FD-3215960D2A0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820696" y="55166"/>
            <a:ext cx="965086" cy="313873"/>
          </a:xfrm>
          <a:prstGeom prst="rect">
            <a:avLst/>
          </a:prstGeom>
        </p:spPr>
      </p:pic>
    </p:spTree>
    <p:custDataLst>
      <p:tags r:id="rId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4" Type="http://schemas.openxmlformats.org/officeDocument/2006/relationships/hyperlink" Target="https://1drv.ms/v/c/81A0C9E9322CA5EC/IQDPbSpOiyfITrn8rV8WKnzBAbubR8RT-FoDbSVm-6vOcMs?e=9fU5ZS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219A4-F5CF-3B84-A831-006143830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5BBAA9FE-14A6-3635-BDE0-21E75B60255D}"/>
              </a:ext>
            </a:extLst>
          </p:cNvPr>
          <p:cNvSpPr/>
          <p:nvPr/>
        </p:nvSpPr>
        <p:spPr>
          <a:xfrm>
            <a:off x="364882" y="652908"/>
            <a:ext cx="3603333" cy="485021"/>
          </a:xfrm>
          <a:prstGeom prst="roundRect">
            <a:avLst/>
          </a:prstGeom>
          <a:solidFill>
            <a:schemeClr val="bg1"/>
          </a:solidFill>
          <a:ln>
            <a:solidFill>
              <a:srgbClr val="1D63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DC713F69-E6DD-B345-33D3-499B008F7A17}"/>
              </a:ext>
            </a:extLst>
          </p:cNvPr>
          <p:cNvGrpSpPr/>
          <p:nvPr/>
        </p:nvGrpSpPr>
        <p:grpSpPr>
          <a:xfrm>
            <a:off x="0" y="0"/>
            <a:ext cx="4153368" cy="126178"/>
            <a:chOff x="0" y="0"/>
            <a:chExt cx="2187782" cy="6646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6F12EA0-AE27-85D3-96E6-BED52A471BC9}"/>
                </a:ext>
              </a:extLst>
            </p:cNvPr>
            <p:cNvSpPr/>
            <p:nvPr/>
          </p:nvSpPr>
          <p:spPr>
            <a:xfrm>
              <a:off x="0" y="0"/>
              <a:ext cx="2187782" cy="66464"/>
            </a:xfrm>
            <a:custGeom>
              <a:avLst/>
              <a:gdLst/>
              <a:ahLst/>
              <a:cxnLst/>
              <a:rect l="l" t="t" r="r" b="b"/>
              <a:pathLst>
                <a:path w="2187782" h="66464">
                  <a:moveTo>
                    <a:pt x="0" y="0"/>
                  </a:moveTo>
                  <a:lnTo>
                    <a:pt x="2187782" y="0"/>
                  </a:lnTo>
                  <a:lnTo>
                    <a:pt x="21877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EDED881-7208-D373-6128-A08573FEEA11}"/>
                </a:ext>
              </a:extLst>
            </p:cNvPr>
            <p:cNvSpPr txBox="1"/>
            <p:nvPr/>
          </p:nvSpPr>
          <p:spPr>
            <a:xfrm>
              <a:off x="0" y="-38100"/>
              <a:ext cx="2187782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71C7EC6-7D4C-F061-CDE0-6A50914ECB9E}"/>
              </a:ext>
            </a:extLst>
          </p:cNvPr>
          <p:cNvGrpSpPr/>
          <p:nvPr/>
        </p:nvGrpSpPr>
        <p:grpSpPr>
          <a:xfrm>
            <a:off x="0" y="5017322"/>
            <a:ext cx="7571294" cy="126178"/>
            <a:chOff x="0" y="0"/>
            <a:chExt cx="3988171" cy="6646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4AD79D7-46FD-6B0C-7DE4-FF78018F4A88}"/>
                </a:ext>
              </a:extLst>
            </p:cNvPr>
            <p:cNvSpPr/>
            <p:nvPr/>
          </p:nvSpPr>
          <p:spPr>
            <a:xfrm>
              <a:off x="0" y="0"/>
              <a:ext cx="3988171" cy="66464"/>
            </a:xfrm>
            <a:custGeom>
              <a:avLst/>
              <a:gdLst/>
              <a:ahLst/>
              <a:cxnLst/>
              <a:rect l="l" t="t" r="r" b="b"/>
              <a:pathLst>
                <a:path w="3988171" h="66464">
                  <a:moveTo>
                    <a:pt x="0" y="0"/>
                  </a:moveTo>
                  <a:lnTo>
                    <a:pt x="3988171" y="0"/>
                  </a:lnTo>
                  <a:lnTo>
                    <a:pt x="3988171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396E051-FCE8-96D0-093A-9DAA0B6CA32C}"/>
                </a:ext>
              </a:extLst>
            </p:cNvPr>
            <p:cNvSpPr txBox="1"/>
            <p:nvPr/>
          </p:nvSpPr>
          <p:spPr>
            <a:xfrm>
              <a:off x="0" y="-38100"/>
              <a:ext cx="3988171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14E0FB1-7343-AA0B-7107-6EF9941BD391}"/>
              </a:ext>
            </a:extLst>
          </p:cNvPr>
          <p:cNvGrpSpPr/>
          <p:nvPr/>
        </p:nvGrpSpPr>
        <p:grpSpPr>
          <a:xfrm rot="2700000">
            <a:off x="3721628" y="-504202"/>
            <a:ext cx="4532191" cy="2123257"/>
            <a:chOff x="0" y="0"/>
            <a:chExt cx="2424267" cy="111842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AFFC971-D518-DC63-82CA-066EEEE8BD9D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F1F892B-32CB-D20F-CD5E-29D9DD282E0B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903312A-41E4-0C98-DB5C-2FD31C761F00}"/>
              </a:ext>
            </a:extLst>
          </p:cNvPr>
          <p:cNvGrpSpPr/>
          <p:nvPr/>
        </p:nvGrpSpPr>
        <p:grpSpPr>
          <a:xfrm rot="2700000">
            <a:off x="5632358" y="303921"/>
            <a:ext cx="3724082" cy="1064394"/>
            <a:chOff x="0" y="0"/>
            <a:chExt cx="1961656" cy="560668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8440D19-D63B-AF33-3EAE-F2B37D5CF256}"/>
                </a:ext>
              </a:extLst>
            </p:cNvPr>
            <p:cNvSpPr/>
            <p:nvPr/>
          </p:nvSpPr>
          <p:spPr>
            <a:xfrm>
              <a:off x="0" y="0"/>
              <a:ext cx="1961656" cy="560668"/>
            </a:xfrm>
            <a:custGeom>
              <a:avLst/>
              <a:gdLst/>
              <a:ahLst/>
              <a:cxnLst/>
              <a:rect l="l" t="t" r="r" b="b"/>
              <a:pathLst>
                <a:path w="1961656" h="560668">
                  <a:moveTo>
                    <a:pt x="0" y="0"/>
                  </a:moveTo>
                  <a:lnTo>
                    <a:pt x="1961656" y="0"/>
                  </a:lnTo>
                  <a:lnTo>
                    <a:pt x="1961656" y="560668"/>
                  </a:lnTo>
                  <a:lnTo>
                    <a:pt x="0" y="560668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70297523-D0C9-81EB-FA45-802E3E7D096A}"/>
                </a:ext>
              </a:extLst>
            </p:cNvPr>
            <p:cNvSpPr txBox="1"/>
            <p:nvPr/>
          </p:nvSpPr>
          <p:spPr>
            <a:xfrm>
              <a:off x="0" y="-38100"/>
              <a:ext cx="1961656" cy="59876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3AF039C7-166F-DC3C-FD40-F2CACE3926F2}"/>
              </a:ext>
            </a:extLst>
          </p:cNvPr>
          <p:cNvGrpSpPr/>
          <p:nvPr/>
        </p:nvGrpSpPr>
        <p:grpSpPr>
          <a:xfrm rot="2700000">
            <a:off x="7495977" y="-915621"/>
            <a:ext cx="2752550" cy="2026825"/>
            <a:chOff x="0" y="0"/>
            <a:chExt cx="1513855" cy="1036126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166C2FB9-D184-461A-308A-1F6AFD5F7BBF}"/>
                </a:ext>
              </a:extLst>
            </p:cNvPr>
            <p:cNvSpPr/>
            <p:nvPr/>
          </p:nvSpPr>
          <p:spPr>
            <a:xfrm>
              <a:off x="0" y="0"/>
              <a:ext cx="1513855" cy="1036126"/>
            </a:xfrm>
            <a:custGeom>
              <a:avLst/>
              <a:gdLst/>
              <a:ahLst/>
              <a:cxnLst/>
              <a:rect l="l" t="t" r="r" b="b"/>
              <a:pathLst>
                <a:path w="1513855" h="1036126">
                  <a:moveTo>
                    <a:pt x="0" y="0"/>
                  </a:moveTo>
                  <a:lnTo>
                    <a:pt x="1513855" y="0"/>
                  </a:lnTo>
                  <a:lnTo>
                    <a:pt x="1513855" y="1036126"/>
                  </a:lnTo>
                  <a:lnTo>
                    <a:pt x="0" y="1036126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78B5C6B-C409-CCBB-2B06-FBD31CAC99E4}"/>
                </a:ext>
              </a:extLst>
            </p:cNvPr>
            <p:cNvSpPr txBox="1"/>
            <p:nvPr/>
          </p:nvSpPr>
          <p:spPr>
            <a:xfrm>
              <a:off x="0" y="-38100"/>
              <a:ext cx="1513855" cy="107422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BB6CD3B7-9C29-31B7-074F-1C8E56CB1626}"/>
              </a:ext>
            </a:extLst>
          </p:cNvPr>
          <p:cNvGrpSpPr/>
          <p:nvPr/>
        </p:nvGrpSpPr>
        <p:grpSpPr>
          <a:xfrm rot="2700000">
            <a:off x="6944082" y="3771864"/>
            <a:ext cx="3779580" cy="2123257"/>
            <a:chOff x="0" y="0"/>
            <a:chExt cx="2424267" cy="1118423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059C69CD-FBFA-E4B4-AA86-445D5367D190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FFFD043-6DDC-803C-1EE7-E745D2CD7192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40B8BCE7-F5DB-C74D-120E-15FE119805F6}"/>
              </a:ext>
            </a:extLst>
          </p:cNvPr>
          <p:cNvGrpSpPr/>
          <p:nvPr/>
        </p:nvGrpSpPr>
        <p:grpSpPr>
          <a:xfrm rot="2700000">
            <a:off x="7921183" y="3481822"/>
            <a:ext cx="2279053" cy="1396039"/>
            <a:chOff x="0" y="0"/>
            <a:chExt cx="1141438" cy="5932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7CCA289A-B33A-364F-D970-B4B0741374DB}"/>
                </a:ext>
              </a:extLst>
            </p:cNvPr>
            <p:cNvSpPr/>
            <p:nvPr/>
          </p:nvSpPr>
          <p:spPr>
            <a:xfrm>
              <a:off x="0" y="0"/>
              <a:ext cx="1141438" cy="593219"/>
            </a:xfrm>
            <a:custGeom>
              <a:avLst/>
              <a:gdLst/>
              <a:ahLst/>
              <a:cxnLst/>
              <a:rect l="l" t="t" r="r" b="b"/>
              <a:pathLst>
                <a:path w="1141438" h="593219">
                  <a:moveTo>
                    <a:pt x="0" y="0"/>
                  </a:moveTo>
                  <a:lnTo>
                    <a:pt x="1141438" y="0"/>
                  </a:lnTo>
                  <a:lnTo>
                    <a:pt x="1141438" y="593219"/>
                  </a:lnTo>
                  <a:lnTo>
                    <a:pt x="0" y="593219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6D1B43F8-87A5-2EDD-F149-BE82A2984EB5}"/>
                </a:ext>
              </a:extLst>
            </p:cNvPr>
            <p:cNvSpPr txBox="1"/>
            <p:nvPr/>
          </p:nvSpPr>
          <p:spPr>
            <a:xfrm>
              <a:off x="0" y="-38100"/>
              <a:ext cx="1141438" cy="631319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2ABF0622-9241-CD75-6B4F-4578A248FF9B}"/>
              </a:ext>
            </a:extLst>
          </p:cNvPr>
          <p:cNvGrpSpPr/>
          <p:nvPr/>
        </p:nvGrpSpPr>
        <p:grpSpPr>
          <a:xfrm>
            <a:off x="5720497" y="768985"/>
            <a:ext cx="3475712" cy="3475712"/>
            <a:chOff x="0" y="0"/>
            <a:chExt cx="812800" cy="81280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0A81DF20-399E-AF89-89B0-FC2CA2FD016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40C2189F-9BF3-791F-6AA1-3475C52DFABC}"/>
                </a:ext>
              </a:extLst>
            </p:cNvPr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29445" tIns="29445" rIns="29445" bIns="29445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/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79637531-A44E-C462-F403-761C10B95F61}"/>
              </a:ext>
            </a:extLst>
          </p:cNvPr>
          <p:cNvSpPr/>
          <p:nvPr/>
        </p:nvSpPr>
        <p:spPr>
          <a:xfrm>
            <a:off x="4814816" y="492813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7"/>
                </a:lnTo>
                <a:lnTo>
                  <a:pt x="0" y="3192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DCD7CC8C-164D-C41A-6252-42C99A05871B}"/>
              </a:ext>
            </a:extLst>
          </p:cNvPr>
          <p:cNvSpPr/>
          <p:nvPr/>
        </p:nvSpPr>
        <p:spPr>
          <a:xfrm>
            <a:off x="8435937" y="4382878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8672D197-9BF9-8CFA-6DF7-2937B68FFD86}"/>
              </a:ext>
            </a:extLst>
          </p:cNvPr>
          <p:cNvSpPr/>
          <p:nvPr/>
        </p:nvSpPr>
        <p:spPr>
          <a:xfrm>
            <a:off x="8458284" y="4521059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8" y="0"/>
                </a:lnTo>
                <a:lnTo>
                  <a:pt x="1714128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E9CDC51-FF0E-F171-6762-BB19A05B4D8E}"/>
              </a:ext>
            </a:extLst>
          </p:cNvPr>
          <p:cNvGrpSpPr/>
          <p:nvPr/>
        </p:nvGrpSpPr>
        <p:grpSpPr>
          <a:xfrm>
            <a:off x="-19007" y="2928677"/>
            <a:ext cx="4276134" cy="431080"/>
            <a:chOff x="0" y="2985846"/>
            <a:chExt cx="4276134" cy="431080"/>
          </a:xfrm>
        </p:grpSpPr>
        <p:grpSp>
          <p:nvGrpSpPr>
            <p:cNvPr id="28" name="Group 28">
              <a:extLst>
                <a:ext uri="{FF2B5EF4-FFF2-40B4-BE49-F238E27FC236}">
                  <a16:creationId xmlns:a16="http://schemas.microsoft.com/office/drawing/2014/main" id="{20253B4E-5254-3A4A-D2B3-FDC541381304}"/>
                </a:ext>
              </a:extLst>
            </p:cNvPr>
            <p:cNvGrpSpPr/>
            <p:nvPr/>
          </p:nvGrpSpPr>
          <p:grpSpPr>
            <a:xfrm>
              <a:off x="0" y="2985846"/>
              <a:ext cx="4224335" cy="431080"/>
              <a:chOff x="0" y="-38100"/>
              <a:chExt cx="4355842" cy="444500"/>
            </a:xfrm>
          </p:grpSpPr>
          <p:sp>
            <p:nvSpPr>
              <p:cNvPr id="29" name="Freeform 29">
                <a:extLst>
                  <a:ext uri="{FF2B5EF4-FFF2-40B4-BE49-F238E27FC236}">
                    <a16:creationId xmlns:a16="http://schemas.microsoft.com/office/drawing/2014/main" id="{98AC3028-4A73-A10C-B23F-D62CE7C18AED}"/>
                  </a:ext>
                </a:extLst>
              </p:cNvPr>
              <p:cNvSpPr/>
              <p:nvPr/>
            </p:nvSpPr>
            <p:spPr>
              <a:xfrm>
                <a:off x="0" y="0"/>
                <a:ext cx="4355842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355842" h="406400">
                    <a:moveTo>
                      <a:pt x="415264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152642" y="406400"/>
                    </a:lnTo>
                    <a:lnTo>
                      <a:pt x="4355842" y="203200"/>
                    </a:lnTo>
                    <a:lnTo>
                      <a:pt x="415264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42882">
                      <a:alpha val="100000"/>
                    </a:srgbClr>
                  </a:gs>
                  <a:gs pos="100000">
                    <a:srgbClr val="2A83D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IN" sz="700"/>
              </a:p>
            </p:txBody>
          </p:sp>
          <p:sp>
            <p:nvSpPr>
              <p:cNvPr id="30" name="TextBox 30">
                <a:extLst>
                  <a:ext uri="{FF2B5EF4-FFF2-40B4-BE49-F238E27FC236}">
                    <a16:creationId xmlns:a16="http://schemas.microsoft.com/office/drawing/2014/main" id="{199C1F1F-4C5C-E8C0-1593-D5C9F695271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241542" cy="44450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330"/>
                  </a:lnSpc>
                </a:pPr>
                <a:endParaRPr sz="700"/>
              </a:p>
            </p:txBody>
          </p:sp>
        </p:grp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3578161E-D839-4793-89CB-83A287A2849E}"/>
                </a:ext>
              </a:extLst>
            </p:cNvPr>
            <p:cNvSpPr txBox="1"/>
            <p:nvPr/>
          </p:nvSpPr>
          <p:spPr>
            <a:xfrm>
              <a:off x="466725" y="3100839"/>
              <a:ext cx="3809409" cy="2235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43"/>
                </a:lnSpc>
              </a:pPr>
              <a:r>
                <a:rPr lang="en-US" sz="1400" b="1" spc="583" dirty="0">
                  <a:solidFill>
                    <a:srgbClr val="FFFFFF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PRESENTATION 2026</a:t>
              </a:r>
            </a:p>
          </p:txBody>
        </p:sp>
      </p:grpSp>
      <p:sp>
        <p:nvSpPr>
          <p:cNvPr id="40" name="TextBox 40">
            <a:extLst>
              <a:ext uri="{FF2B5EF4-FFF2-40B4-BE49-F238E27FC236}">
                <a16:creationId xmlns:a16="http://schemas.microsoft.com/office/drawing/2014/main" id="{EEE29F0A-1253-B8CE-E742-41B8B6EB922D}"/>
              </a:ext>
            </a:extLst>
          </p:cNvPr>
          <p:cNvSpPr txBox="1"/>
          <p:nvPr/>
        </p:nvSpPr>
        <p:spPr>
          <a:xfrm>
            <a:off x="2302781" y="4344678"/>
            <a:ext cx="1633432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Name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2E9FAC26-1E84-D690-0FD4-B1A364AF40DE}"/>
              </a:ext>
            </a:extLst>
          </p:cNvPr>
          <p:cNvSpPr txBox="1"/>
          <p:nvPr/>
        </p:nvSpPr>
        <p:spPr>
          <a:xfrm>
            <a:off x="2302779" y="4471625"/>
            <a:ext cx="1633432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Sree Divya Koka</a:t>
            </a:r>
          </a:p>
        </p:txBody>
      </p:sp>
      <p:pic>
        <p:nvPicPr>
          <p:cNvPr id="50" name="Picture 49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C926F708-70B7-B0DB-A148-0FA2830D925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757" t="2453" r="27842" b="53701"/>
          <a:stretch>
            <a:fillRect/>
          </a:stretch>
        </p:blipFill>
        <p:spPr>
          <a:xfrm>
            <a:off x="1879018" y="4336133"/>
            <a:ext cx="395331" cy="381795"/>
          </a:xfrm>
          <a:prstGeom prst="rect">
            <a:avLst/>
          </a:prstGeom>
        </p:spPr>
      </p:pic>
      <p:sp>
        <p:nvSpPr>
          <p:cNvPr id="41" name="TextBox 41">
            <a:extLst>
              <a:ext uri="{FF2B5EF4-FFF2-40B4-BE49-F238E27FC236}">
                <a16:creationId xmlns:a16="http://schemas.microsoft.com/office/drawing/2014/main" id="{3403BDBE-05E2-50C5-0F55-4F0483352E2C}"/>
              </a:ext>
            </a:extLst>
          </p:cNvPr>
          <p:cNvSpPr txBox="1"/>
          <p:nvPr/>
        </p:nvSpPr>
        <p:spPr>
          <a:xfrm>
            <a:off x="3924234" y="4279537"/>
            <a:ext cx="1809978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Email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B84F91E2-C42E-10B3-A03A-88AA58AF1258}"/>
              </a:ext>
            </a:extLst>
          </p:cNvPr>
          <p:cNvSpPr txBox="1"/>
          <p:nvPr/>
        </p:nvSpPr>
        <p:spPr>
          <a:xfrm>
            <a:off x="3945013" y="4413410"/>
            <a:ext cx="2272871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sreedivyakoka90@gmail.com</a:t>
            </a:r>
          </a:p>
        </p:txBody>
      </p:sp>
      <p:pic>
        <p:nvPicPr>
          <p:cNvPr id="51" name="Picture 50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EC8FEF14-C75E-1155-0600-B4343B3F57F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859" t="52379" r="26874" b="2349"/>
          <a:stretch>
            <a:fillRect/>
          </a:stretch>
        </p:blipFill>
        <p:spPr>
          <a:xfrm>
            <a:off x="3523298" y="4318413"/>
            <a:ext cx="398279" cy="389719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658A7A12-122B-4A3C-11D3-C4D8BF732077}"/>
              </a:ext>
            </a:extLst>
          </p:cNvPr>
          <p:cNvGrpSpPr/>
          <p:nvPr/>
        </p:nvGrpSpPr>
        <p:grpSpPr>
          <a:xfrm>
            <a:off x="795048" y="4337076"/>
            <a:ext cx="2272871" cy="362627"/>
            <a:chOff x="3074288" y="4295282"/>
            <a:chExt cx="2272871" cy="362627"/>
          </a:xfrm>
        </p:grpSpPr>
        <p:sp>
          <p:nvSpPr>
            <p:cNvPr id="67" name="TextBox 41">
              <a:extLst>
                <a:ext uri="{FF2B5EF4-FFF2-40B4-BE49-F238E27FC236}">
                  <a16:creationId xmlns:a16="http://schemas.microsoft.com/office/drawing/2014/main" id="{5FE6F280-D970-382B-5260-25E219F86722}"/>
                </a:ext>
              </a:extLst>
            </p:cNvPr>
            <p:cNvSpPr txBox="1"/>
            <p:nvPr/>
          </p:nvSpPr>
          <p:spPr>
            <a:xfrm>
              <a:off x="3139699" y="4295282"/>
              <a:ext cx="1809978" cy="1588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96"/>
                </a:lnSpc>
              </a:pPr>
              <a:r>
                <a:rPr lang="en-US" sz="1000" dirty="0"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Mentor Name</a:t>
              </a:r>
            </a:p>
          </p:txBody>
        </p:sp>
        <p:sp>
          <p:nvSpPr>
            <p:cNvPr id="68" name="TextBox 43">
              <a:extLst>
                <a:ext uri="{FF2B5EF4-FFF2-40B4-BE49-F238E27FC236}">
                  <a16:creationId xmlns:a16="http://schemas.microsoft.com/office/drawing/2014/main" id="{A541DFB6-306C-CD3E-24BD-6D7131F87B73}"/>
                </a:ext>
              </a:extLst>
            </p:cNvPr>
            <p:cNvSpPr txBox="1"/>
            <p:nvPr/>
          </p:nvSpPr>
          <p:spPr>
            <a:xfrm>
              <a:off x="3074288" y="4430474"/>
              <a:ext cx="2272871" cy="227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38"/>
                </a:lnSpc>
              </a:pPr>
              <a:r>
                <a:rPr lang="en-US" sz="1200" b="1" dirty="0" err="1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Umamaheswari</a:t>
              </a:r>
              <a:endPara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endParaRPr>
            </a:p>
          </p:txBody>
        </p:sp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4094A52A-31D4-B030-C8BD-9B0ACB0083E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8109" t="6546" r="28551" b="49509"/>
          <a:stretch>
            <a:fillRect/>
          </a:stretch>
        </p:blipFill>
        <p:spPr>
          <a:xfrm>
            <a:off x="447718" y="4346948"/>
            <a:ext cx="375815" cy="381063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18150B14-0B49-9E22-C961-786A40F27A84}"/>
              </a:ext>
            </a:extLst>
          </p:cNvPr>
          <p:cNvGrpSpPr/>
          <p:nvPr/>
        </p:nvGrpSpPr>
        <p:grpSpPr>
          <a:xfrm>
            <a:off x="640733" y="769747"/>
            <a:ext cx="3051630" cy="258616"/>
            <a:chOff x="1068621" y="826472"/>
            <a:chExt cx="2166264" cy="183584"/>
          </a:xfrm>
        </p:grpSpPr>
        <p:pic>
          <p:nvPicPr>
            <p:cNvPr id="55" name="Picture 54" descr="A blue and black logo&#10;&#10;AI-generated content may be incorrect.">
              <a:extLst>
                <a:ext uri="{FF2B5EF4-FFF2-40B4-BE49-F238E27FC236}">
                  <a16:creationId xmlns:a16="http://schemas.microsoft.com/office/drawing/2014/main" id="{9016EA03-A173-06E1-C2CA-FF7DC65A3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68621" y="826472"/>
              <a:ext cx="632879" cy="158848"/>
            </a:xfrm>
            <a:prstGeom prst="rect">
              <a:avLst/>
            </a:prstGeom>
          </p:spPr>
        </p:pic>
        <p:pic>
          <p:nvPicPr>
            <p:cNvPr id="57" name="Picture 56" descr="A close up of a logo&#10;&#10;AI-generated content may be incorrect.">
              <a:extLst>
                <a:ext uri="{FF2B5EF4-FFF2-40B4-BE49-F238E27FC236}">
                  <a16:creationId xmlns:a16="http://schemas.microsoft.com/office/drawing/2014/main" id="{B084208C-F6C2-47AC-3616-A62F69B53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670437" y="826472"/>
              <a:ext cx="564448" cy="183584"/>
            </a:xfrm>
            <a:prstGeom prst="rect">
              <a:avLst/>
            </a:prstGeom>
          </p:spPr>
        </p:pic>
      </p:grpSp>
      <p:sp>
        <p:nvSpPr>
          <p:cNvPr id="31" name="Shape 7">
            <a:extLst>
              <a:ext uri="{FF2B5EF4-FFF2-40B4-BE49-F238E27FC236}">
                <a16:creationId xmlns:a16="http://schemas.microsoft.com/office/drawing/2014/main" id="{4DEADC42-07CF-F7CC-6F54-42498EAA37B3}"/>
              </a:ext>
            </a:extLst>
          </p:cNvPr>
          <p:cNvSpPr/>
          <p:nvPr/>
        </p:nvSpPr>
        <p:spPr>
          <a:xfrm rot="18195971">
            <a:off x="5802826" y="2309413"/>
            <a:ext cx="283464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51B3A474-02DA-6A59-3FFF-434FDDC06A2B}"/>
              </a:ext>
            </a:extLst>
          </p:cNvPr>
          <p:cNvSpPr/>
          <p:nvPr/>
        </p:nvSpPr>
        <p:spPr>
          <a:xfrm rot="18195971">
            <a:off x="6146363" y="2413708"/>
            <a:ext cx="246888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075C146A-525E-EAB1-2438-92AF6E344C2C}"/>
              </a:ext>
            </a:extLst>
          </p:cNvPr>
          <p:cNvSpPr/>
          <p:nvPr/>
        </p:nvSpPr>
        <p:spPr>
          <a:xfrm rot="18195971">
            <a:off x="6482126" y="2528680"/>
            <a:ext cx="210312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9">
            <a:extLst>
              <a:ext uri="{FF2B5EF4-FFF2-40B4-BE49-F238E27FC236}">
                <a16:creationId xmlns:a16="http://schemas.microsoft.com/office/drawing/2014/main" id="{ED47441A-C600-ACAC-5391-EF118874C98C}"/>
              </a:ext>
            </a:extLst>
          </p:cNvPr>
          <p:cNvSpPr/>
          <p:nvPr/>
        </p:nvSpPr>
        <p:spPr>
          <a:xfrm rot="18195971">
            <a:off x="6735713" y="2647223"/>
            <a:ext cx="1872046" cy="116269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21A2EF52-784B-5BFA-EB88-FB9E7588BFF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19729"/>
          <a:stretch>
            <a:fillRect/>
          </a:stretch>
        </p:blipFill>
        <p:spPr>
          <a:xfrm>
            <a:off x="173754" y="1046557"/>
            <a:ext cx="3854253" cy="184953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6CE2B4C-42F3-6C3D-A2AC-C0C414252A53}"/>
              </a:ext>
            </a:extLst>
          </p:cNvPr>
          <p:cNvSpPr txBox="1"/>
          <p:nvPr/>
        </p:nvSpPr>
        <p:spPr>
          <a:xfrm>
            <a:off x="116877" y="3302097"/>
            <a:ext cx="5729884" cy="748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  <a:buNone/>
            </a:pPr>
            <a:r>
              <a:rPr lang="en-IN" sz="1800" b="1" dirty="0">
                <a:solidFill>
                  <a:srgbClr val="1B3A8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[</a:t>
            </a:r>
            <a:r>
              <a:rPr lang="en-US" sz="1400" b="1" dirty="0" err="1">
                <a:solidFill>
                  <a:srgbClr val="1B3A8A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RevenueShield</a:t>
            </a:r>
            <a:r>
              <a:rPr lang="en-US" sz="1400" b="1" dirty="0">
                <a:solidFill>
                  <a:srgbClr val="1B3A8A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: Reducing Avoidable Revenue Loss Through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3A8A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Comparative Analysis of High Risk Telcom Customer Segments </a:t>
            </a:r>
            <a:r>
              <a:rPr lang="en-IN" sz="1800" b="1" dirty="0">
                <a:solidFill>
                  <a:srgbClr val="1B3A8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]</a:t>
            </a:r>
            <a:endParaRPr lang="en-IN" sz="105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1223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10217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Outline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865657-EE51-429D-40B6-B64C80E4AB47}"/>
              </a:ext>
            </a:extLst>
          </p:cNvPr>
          <p:cNvSpPr txBox="1"/>
          <p:nvPr/>
        </p:nvSpPr>
        <p:spPr>
          <a:xfrm>
            <a:off x="125239" y="1080603"/>
            <a:ext cx="4446761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Abstract of the Project</a:t>
            </a:r>
            <a:endParaRPr lang="en-IN" sz="1800" dirty="0">
              <a:solidFill>
                <a:schemeClr val="tx1"/>
              </a:solidFill>
              <a:latin typeface="Lato" panose="020F0502020204030203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Problem Statement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Proposed Solution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System Architecture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Live Demo of the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Embedded Video of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Conclusion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Future Scope</a:t>
            </a:r>
          </a:p>
        </p:txBody>
      </p:sp>
      <p:pic>
        <p:nvPicPr>
          <p:cNvPr id="25" name="Picture 2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C3A7F110-9D19-8523-45D3-77B1951C883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250" t="7320" r="18976" b="28715"/>
          <a:stretch>
            <a:fillRect/>
          </a:stretch>
        </p:blipFill>
        <p:spPr>
          <a:xfrm>
            <a:off x="5378824" y="1034325"/>
            <a:ext cx="2868706" cy="329004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40079" y="6075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Abstract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" name="Freeform 28">
            <a:extLst>
              <a:ext uri="{FF2B5EF4-FFF2-40B4-BE49-F238E27FC236}">
                <a16:creationId xmlns:a16="http://schemas.microsoft.com/office/drawing/2014/main" id="{AA7F05EE-340D-A58A-BAD0-FB0660B2D339}"/>
              </a:ext>
            </a:extLst>
          </p:cNvPr>
          <p:cNvSpPr/>
          <p:nvPr/>
        </p:nvSpPr>
        <p:spPr>
          <a:xfrm>
            <a:off x="5814470" y="1082801"/>
            <a:ext cx="3070450" cy="2997875"/>
          </a:xfrm>
          <a:custGeom>
            <a:avLst/>
            <a:gdLst/>
            <a:ahLst/>
            <a:cxnLst/>
            <a:rect l="l" t="t" r="r" b="b"/>
            <a:pathLst>
              <a:path w="4114800" h="4017541">
                <a:moveTo>
                  <a:pt x="0" y="0"/>
                </a:moveTo>
                <a:lnTo>
                  <a:pt x="4114800" y="0"/>
                </a:lnTo>
                <a:lnTo>
                  <a:pt x="4114800" y="4017541"/>
                </a:lnTo>
                <a:lnTo>
                  <a:pt x="0" y="40175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6F94D31-6B63-3229-1145-A739E0EE5CE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25240" y="1259656"/>
            <a:ext cx="5791856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performs structured churn analysis using data cleaning, segmentation, dashboards, and a Copilot-powered assessment agent.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Telco Customer Churn dataset (7,043 records) was cleaned, validated, and segmented to identify high‑risk customer groups.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Comparative analysis using PivotTables and charts highlights churn patterns across tenure, contract type, billing behavior, and service usage.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rule‑based Copilot Agent classifies churn risk and provides business‑friendly insights.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final output includes an interactive dashboard and an AI-assisted churn‑evaluation system that supports early churn detection and reduces avoidable revenue loss.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7B2E24-A610-1C01-FCDD-9B6B67A72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8151" y="873760"/>
            <a:ext cx="3947240" cy="394724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0623" y="61128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Problem Statement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76AC24-5CB7-D860-6A01-E6D8ABD38610}"/>
              </a:ext>
            </a:extLst>
          </p:cNvPr>
          <p:cNvSpPr txBox="1"/>
          <p:nvPr/>
        </p:nvSpPr>
        <p:spPr>
          <a:xfrm>
            <a:off x="237883" y="1232922"/>
            <a:ext cx="4762910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Telecom companies generate large volumes of customer and billing data, but inconsistencies make churn analysis difficult.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High-value customers leaving contributes significantly to revenue leakage.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Industry studies show 15–25% annual churn, with 40–55% of revenue leakage coming from high‑risk segments.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Existing ML-based churn models are complex and not easily interpretable by business teams.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There is a need for a practical, business-friendly churn‑assessment framework that blends structured analysis with AI assistance.</a:t>
            </a:r>
          </a:p>
          <a:p>
            <a:endParaRPr lang="en-US" sz="14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1F49F94-4102-44CC-056B-FA1BB4DA8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0286" y="725532"/>
            <a:ext cx="4903714" cy="4203183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5486" y="61693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Proposed Solution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 dirty="0"/>
          </a:p>
        </p:txBody>
      </p:sp>
      <p:sp>
        <p:nvSpPr>
          <p:cNvPr id="5" name="Text 12"/>
          <p:cNvSpPr/>
          <p:nvPr/>
        </p:nvSpPr>
        <p:spPr>
          <a:xfrm flipV="1">
            <a:off x="91946" y="1006131"/>
            <a:ext cx="4416154" cy="457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1B3A8B-ECA0-E729-BCB2-EE683266AC1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02520" y="1471340"/>
            <a:ext cx="538327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RevenueShield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provides an end‑to‑end analytical workflow combining: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 and standardization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Comparative segment analysis using Excel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dashboards for churn visualization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Copilot-powered rule‑based churn‑assessment agent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identifies high‑risk customer groups, explains churn drivers, and provides actionable retention recommendations — without requiring machine learning.</a:t>
            </a: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029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System Architecture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12548" y="115156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44468" y="115156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6848" y="1122568"/>
            <a:ext cx="3840480" cy="468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Data Input / Source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21108" y="1535608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/>
              <a:t>Telco Customer Churn dataset (7,043 records) from Kaggle</a:t>
            </a:r>
          </a:p>
          <a:p>
            <a:r>
              <a:rPr lang="en-US" sz="1600" dirty="0"/>
              <a:t>Customer demographics, services, billing, and churn status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61688" y="1159448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 sz="160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61688" y="1201852"/>
            <a:ext cx="3840480" cy="3888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Processing / Analysis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 flipV="1">
            <a:off x="7399560" y="1654680"/>
            <a:ext cx="1385488" cy="457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3540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16732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684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 / Tool Integration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6848" y="342705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7024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60216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6168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Output / Dashboard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578808" y="3448669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Excel dashboards showing churn by contract, tenure, monthly charges, payment method, and internet service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AI-generated churn‑risk explanations and retention suggestions</a:t>
            </a:r>
          </a:p>
          <a:p>
            <a:pPr marL="0" indent="0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0B7ED8-DB0D-4557-D8E0-A562FED2888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611939" y="1590672"/>
            <a:ext cx="4565191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cleaning: missing values, data types, category standardization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Segmentation using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PivotTables:Tenure,Contract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type,Billing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method,Payment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method,Internet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service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Comparative analysis to identify high‑risk patterns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3A410E5-97FE-3A68-468C-BA2B204911E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2528" y="3402769"/>
            <a:ext cx="4147932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Copilot Studio used to build a rule‑based churn‑assessment agent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 classifies customers into High / Medium / Low risk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Generates churn explanations and retention suggestions</a:t>
            </a: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0623" y="60729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Live Demo of Project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5487" y="1105839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Here's the list of some demo screenshots / features of the project: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78408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2196877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74320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1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[Add description of Demo 1 here — what this demo shows, key features, and results achieved.]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922776" y="1648237"/>
            <a:ext cx="1371600" cy="1371600"/>
          </a:xfrm>
          <a:prstGeom prst="ellipse">
            <a:avLst/>
          </a:prstGeom>
          <a:solidFill>
            <a:srgbClr val="FFC00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18688" y="2196877"/>
            <a:ext cx="2788920" cy="2651760"/>
          </a:xfrm>
          <a:prstGeom prst="rect">
            <a:avLst/>
          </a:prstGeom>
          <a:solidFill>
            <a:srgbClr val="FDF3E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18688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2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55848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[Add description of Demo 2 here — what this demo shows, key features, and results achieved.]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867144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67144" y="1648237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63056" y="2200479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163056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3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00216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[Add description of Demo 3 here — what this demo shows, key features, and results achieved.]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6925E0-5FBF-D1E1-2E6D-E9D98D4A69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196877"/>
            <a:ext cx="2779775" cy="265983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0C6885C-5C0B-EAF9-6166-23B62EDA8F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344" y="2196877"/>
            <a:ext cx="2788920" cy="26517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DA4FBCE-5D83-8610-4F8C-4A4FCB8346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2966" y="2200479"/>
            <a:ext cx="2852930" cy="2648158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of Project Demo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685800"/>
            <a:ext cx="8412480" cy="3977640"/>
          </a:xfrm>
          <a:prstGeom prst="rect">
            <a:avLst/>
          </a:prstGeom>
          <a:solidFill>
            <a:srgbClr val="ECEFF1"/>
          </a:solidFill>
          <a:ln w="254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02920" y="77724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" y="777240"/>
            <a:ext cx="164592" cy="164592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960120" y="77724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403604" y="480060"/>
            <a:ext cx="4992624" cy="921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u="sng" dirty="0">
                <a:hlinkClick r:id="rId4"/>
              </a:rPr>
              <a:t>https://1drv.ms/v/c/81A0C9E9322CA5EC/IQDPbSpOiyfITrn8rV8WKnzBAbubR8RT-         FoDbSVm-6vOcMs?e=9fU5ZS</a:t>
            </a:r>
            <a:r>
              <a:rPr lang="en-US" sz="900" dirty="0"/>
              <a:t> </a:t>
            </a:r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49040" y="1828800"/>
            <a:ext cx="1645920" cy="1645920"/>
          </a:xfrm>
          <a:prstGeom prst="ellipse">
            <a:avLst/>
          </a:prstGeom>
          <a:solidFill>
            <a:srgbClr val="1B3A8A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749040" y="18288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FFFFFF"/>
                </a:solidFill>
              </a:rPr>
              <a:t>▶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14400" y="3794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your project demo video.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embed a video your live project.]</a:t>
            </a:r>
            <a:endParaRPr lang="en-US" sz="1100" dirty="0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1" y="61206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Conclusion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 rot="10800000" flipV="1">
            <a:off x="125483" y="1039207"/>
            <a:ext cx="2609911" cy="457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303520" y="34747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Lato" panose="020F0502020204030203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>
              <a:latin typeface="Lato" panose="020F0502020204030203" pitchFamily="34" charset="0"/>
            </a:endParaRPr>
          </a:p>
        </p:txBody>
      </p:sp>
      <p:pic>
        <p:nvPicPr>
          <p:cNvPr id="20" name="Picture 19" descr="A blue circle with a pencil and paper with a star on it&#10;&#10;AI-generated content may be incorrect.">
            <a:extLst>
              <a:ext uri="{FF2B5EF4-FFF2-40B4-BE49-F238E27FC236}">
                <a16:creationId xmlns:a16="http://schemas.microsoft.com/office/drawing/2014/main" id="{BAE68F53-65EE-1751-E92D-7025D978B6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397" t="26296" r="26825" b="29752"/>
          <a:stretch>
            <a:fillRect/>
          </a:stretch>
        </p:blipFill>
        <p:spPr>
          <a:xfrm>
            <a:off x="4898406" y="971550"/>
            <a:ext cx="3597456" cy="330935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2AB0BE3-4FFD-0F0E-28C8-20D89EFDA0F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25482" y="1256651"/>
            <a:ext cx="5241647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identified key churn drivers such as contract type, tenure, billing behavior, and service usage.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High‑risk segments — especially month‑to‑month contract users, short‑tenure customers, and electronic‑check payers — were clearly highlighted.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Copilot Agent achieved 80–90% accuracy in churn‑risk classification and delivered consistent, business‑friendly insights.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dashboards improved decision‑making efficiency by 30–50%.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Overall, the project provides a practical, scalable, AI-assisted churn‑evaluation framework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3247" y="536716"/>
            <a:ext cx="8229600" cy="5157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Future Scope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3247" y="1082104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2449DB-BF51-DAAE-EA83-F4C0089676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635" y="879613"/>
            <a:ext cx="4512365" cy="3384274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FEA085C2-B60B-90F1-AE84-57901CDAE6C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3489" y="1139793"/>
            <a:ext cx="536978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ML models for predictive churn forecasting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Power BI dashboards for advanced visualizations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Connect to real‑time telecom databases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Expand Copilot Agent to include personalized retention strategies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 as a web or mobile application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 periodic churn‑summary reports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 financial impact analysis for revenue‑loss estimation</a:t>
            </a: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AICW Fellowship  |  Student Project Presentation 2026</a:t>
            </a:r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 LinkedIn  |   </a:t>
            </a:r>
            <a:r>
              <a:rPr lang="en-US" sz="1100" dirty="0" err="1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Edunet</a:t>
            </a: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Foundation</a:t>
            </a:r>
            <a:endParaRPr lang="en-US" sz="11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F7A740B1-0782-B37E-5F62-503024E32BC9}"/>
              </a:ext>
            </a:extLst>
          </p:cNvPr>
          <p:cNvSpPr txBox="1"/>
          <p:nvPr/>
        </p:nvSpPr>
        <p:spPr>
          <a:xfrm>
            <a:off x="2632982" y="1705295"/>
            <a:ext cx="3878036" cy="1175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686"/>
              </a:lnSpc>
            </a:pPr>
            <a:r>
              <a:rPr lang="en-US" sz="5000" b="1" dirty="0">
                <a:solidFill>
                  <a:srgbClr val="0D358D"/>
                </a:solidFill>
                <a:latin typeface="Lato" panose="020F0502020204030203" pitchFamily="34" charset="0"/>
                <a:ea typeface="Aileron Ultra-Bold"/>
                <a:cs typeface="Arial" panose="020B0604020202020204" pitchFamily="34" charset="0"/>
                <a:sym typeface="Aileron Ultra-Bold"/>
              </a:rPr>
              <a:t>Thank You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OFFICE THEME" val="ROGxgyxs"/>
  <p:tag name="ARTICULATE_PROJECT_OPEN" val="0"/>
  <p:tag name="ARTICULATE_SLIDE_COUNT" val="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</TotalTime>
  <Words>735</Words>
  <Application>Microsoft Office PowerPoint</Application>
  <PresentationFormat>On-screen Show (16:9)</PresentationFormat>
  <Paragraphs>93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AICW Student Project Presentation Template 2026</dc:title>
  <dc:subject>PptxGenJS Presentation</dc:subject>
  <dc:creator>PptxGenJS</dc:creator>
  <cp:lastModifiedBy>Sree Divya Koka</cp:lastModifiedBy>
  <cp:revision>40</cp:revision>
  <dcterms:created xsi:type="dcterms:W3CDTF">2026-02-18T09:17:23Z</dcterms:created>
  <dcterms:modified xsi:type="dcterms:W3CDTF">2026-04-16T10:49:13Z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1F7F540C-1CAD-4091-84DE-558331FD12BA</vt:lpwstr>
  </property>
  <property fmtid="{D5CDD505-2E9C-101B-9397-08002B2CF9AE}" pid="3" name="ArticulatePath">
    <vt:lpwstr>https://edunetfoundationorg-my.sharepoint.com/personal/kaisar_edunetfoundation_org/Documents/Task/AICW/Student project/AI Fellowship Project Template2026 (1)</vt:lpwstr>
  </property>
</Properties>
</file>