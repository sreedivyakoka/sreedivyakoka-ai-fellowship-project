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752" y="264"/>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hyperlink" Target="https://1drv.ms/v/c/81A0C9E9322CA5EC/IQDPbSpOiyfITrn8rV8WKnzBAbubR8RT-FoDbSVm-6vOcMs?e=9fU5ZS"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2302779" y="4471625"/>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Sree Divya Koka</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1879018" y="4336133"/>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924234"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945013" y="4413410"/>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sreedivyakoka90@gmail.com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3523298" y="4318413"/>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err="1">
                  <a:solidFill>
                    <a:srgbClr val="0D358D"/>
                  </a:solidFill>
                  <a:latin typeface="Arial" panose="020B0604020202020204" pitchFamily="34" charset="0"/>
                  <a:ea typeface="Aileron Bold"/>
                  <a:cs typeface="Arial" panose="020B0604020202020204" pitchFamily="34" charset="0"/>
                  <a:sym typeface="Aileron Bold"/>
                </a:rPr>
                <a:t>Umamaheswari</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id="{56CE2B4C-42F3-6C3D-A2AC-C0C414252A53}"/>
              </a:ext>
            </a:extLst>
          </p:cNvPr>
          <p:cNvSpPr txBox="1"/>
          <p:nvPr/>
        </p:nvSpPr>
        <p:spPr>
          <a:xfrm>
            <a:off x="116877" y="3302097"/>
            <a:ext cx="5729884" cy="748923"/>
          </a:xfrm>
          <a:prstGeom prst="rect">
            <a:avLst/>
          </a:prstGeom>
          <a:noFill/>
        </p:spPr>
        <p:txBody>
          <a:bodyPr wrap="square">
            <a:spAutoFit/>
          </a:bodyPr>
          <a:lstStyle/>
          <a:p>
            <a:pPr algn="ctr">
              <a:spcBef>
                <a:spcPts val="400"/>
              </a:spcBef>
              <a:spcAft>
                <a:spcPts val="400"/>
              </a:spcAft>
              <a:buNone/>
            </a:pPr>
            <a:r>
              <a:rPr lang="en-IN" sz="1800" b="1" dirty="0">
                <a:solidFill>
                  <a:srgbClr val="1B3A8A"/>
                </a:solidFill>
                <a:effectLst/>
                <a:latin typeface="Arial" panose="020B0604020202020204" pitchFamily="34" charset="0"/>
                <a:ea typeface="Arial" panose="020B0604020202020204" pitchFamily="34" charset="0"/>
              </a:rPr>
              <a:t>[</a:t>
            </a:r>
            <a:r>
              <a:rPr lang="en-US" sz="1400" b="1" dirty="0" err="1">
                <a:solidFill>
                  <a:srgbClr val="1B3A8A"/>
                </a:solidFill>
                <a:latin typeface="Arial" panose="020B0604020202020204" pitchFamily="34" charset="0"/>
                <a:ea typeface="Arial" panose="020B0604020202020204" pitchFamily="34" charset="0"/>
              </a:rPr>
              <a:t>RevenueShield</a:t>
            </a:r>
            <a:r>
              <a:rPr lang="en-US" sz="1400" b="1" dirty="0">
                <a:solidFill>
                  <a:srgbClr val="1B3A8A"/>
                </a:solidFill>
                <a:latin typeface="Arial" panose="020B0604020202020204" pitchFamily="34" charset="0"/>
                <a:ea typeface="Arial" panose="020B0604020202020204" pitchFamily="34" charset="0"/>
              </a:rPr>
              <a:t>: Reducing Avoidable Revenue Loss Through</a:t>
            </a:r>
          </a:p>
          <a:p>
            <a:pPr algn="ctr">
              <a:spcBef>
                <a:spcPts val="400"/>
              </a:spcBef>
              <a:spcAft>
                <a:spcPts val="400"/>
              </a:spcAft>
              <a:buNone/>
            </a:pPr>
            <a:r>
              <a:rPr lang="en-US" sz="1400" b="1" dirty="0">
                <a:solidFill>
                  <a:srgbClr val="1B3A8A"/>
                </a:solidFill>
                <a:latin typeface="Arial" panose="020B0604020202020204" pitchFamily="34" charset="0"/>
                <a:ea typeface="Arial" panose="020B0604020202020204" pitchFamily="34" charset="0"/>
              </a:rPr>
              <a:t>Comparative Analysis of High Risk Telcom Customer Segments </a:t>
            </a:r>
            <a:r>
              <a:rPr lang="en-IN" sz="1800" b="1" dirty="0">
                <a:solidFill>
                  <a:srgbClr val="1B3A8A"/>
                </a:solidFill>
                <a:effectLst/>
                <a:latin typeface="Arial" panose="020B0604020202020204" pitchFamily="34" charset="0"/>
                <a:ea typeface="Arial" panose="020B0604020202020204" pitchFamily="34" charset="0"/>
              </a:rPr>
              <a:t>]</a:t>
            </a:r>
            <a:endParaRPr lang="en-IN" sz="1050" dirty="0">
              <a:effectLst/>
              <a:latin typeface="Arial" panose="020B0604020202020204" pitchFamily="34" charset="0"/>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135809"/>
            <a:ext cx="5002346" cy="2677656"/>
          </a:xfrm>
          <a:prstGeom prst="rect">
            <a:avLst/>
          </a:prstGeom>
          <a:noFill/>
        </p:spPr>
        <p:txBody>
          <a:bodyPr wrap="square">
            <a:spAutoFit/>
          </a:bodyPr>
          <a:lstStyle/>
          <a:p>
            <a:pPr>
              <a:spcAft>
                <a:spcPts val="800"/>
              </a:spcAft>
              <a:tabLst>
                <a:tab pos="4229100" algn="ctr"/>
              </a:tabLst>
            </a:pPr>
            <a:r>
              <a:rPr lang="en-US" sz="1400" dirty="0"/>
              <a:t>This project analyzes telecom customer churn using structured data cleaning, comparative analysis, Excel dashboards, and a Copilot-powered Churn‑Assessment Agent. The Telco Customer Churn dataset (7,043 records) was cleaned, validated, and segmented to identify high‑risk customer groups. PivotTables, charts, and rule-based logic were used to highlight churn patterns across tenure, contract type, billing behavior, and service usage. A Copilot Agent was developed to automate churn‑risk classification and provide business‑friendly insights. The outcome is an interactive dashboard and an AI-assisted churn‑evaluation system that supports early churn detection and reduces avoidable revenue loss.</a:t>
            </a:r>
            <a:endParaRPr lang="en-US" sz="1400" dirty="0">
              <a:latin typeface="Lato" panose="020F0502020204030203" pitchFamily="34" charset="0"/>
              <a:ea typeface="+mn-lt"/>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0" y="1082801"/>
            <a:ext cx="4762910" cy="2246769"/>
          </a:xfrm>
          <a:prstGeom prst="rect">
            <a:avLst/>
          </a:prstGeom>
          <a:noFill/>
        </p:spPr>
        <p:txBody>
          <a:bodyPr wrap="square">
            <a:spAutoFit/>
          </a:bodyPr>
          <a:lstStyle/>
          <a:p>
            <a:pPr>
              <a:spcAft>
                <a:spcPts val="800"/>
              </a:spcAft>
              <a:tabLst>
                <a:tab pos="4229100" algn="ctr"/>
              </a:tabLst>
            </a:pPr>
            <a:r>
              <a:rPr lang="en-US" sz="1400" dirty="0"/>
              <a:t>Telecom companies generate massive volumes of customer and billing data, but inconsistencies and unstructured formats make churn analysis difficult. High-value customers contribute significantly to revenue leakage when they leave. Studies show telecom operators lose </a:t>
            </a:r>
            <a:r>
              <a:rPr lang="en-US" sz="1400" b="1" dirty="0"/>
              <a:t>15–25%</a:t>
            </a:r>
            <a:r>
              <a:rPr lang="en-US" sz="1400" dirty="0"/>
              <a:t> of customers annually, with </a:t>
            </a:r>
            <a:r>
              <a:rPr lang="en-US" sz="1400" b="1" dirty="0"/>
              <a:t>40–55%</a:t>
            </a:r>
            <a:r>
              <a:rPr lang="en-US" sz="1400" dirty="0"/>
              <a:t> of revenue leakage coming from high‑risk segments. Existing methods rely heavily on complex ML models that are difficult for business teams to interpret. There is a lack of practical, business‑friendly churn‑assessment frameworks that combine structured analysis with AI‑assisted evaluation.</a:t>
            </a:r>
            <a:endParaRPr lang="en-US" sz="1400"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91946" y="1051850"/>
            <a:ext cx="4416154" cy="3474720"/>
          </a:xfrm>
          <a:prstGeom prst="rect">
            <a:avLst/>
          </a:prstGeom>
          <a:noFill/>
          <a:ln/>
        </p:spPr>
        <p:txBody>
          <a:bodyPr wrap="square" rtlCol="0" anchor="t"/>
          <a:lstStyle/>
          <a:p>
            <a:r>
              <a:rPr lang="en-US" sz="1400" dirty="0" err="1">
                <a:solidFill>
                  <a:srgbClr val="1A1A2E"/>
                </a:solidFill>
                <a:latin typeface="Lato" panose="020F0502020204030203" pitchFamily="34" charset="0"/>
                <a:ea typeface="Calibri" pitchFamily="34" charset="-122"/>
                <a:cs typeface="Arial" panose="020B0604020202020204" pitchFamily="34" charset="0"/>
              </a:rPr>
              <a:t>R</a:t>
            </a:r>
            <a:r>
              <a:rPr lang="en-US" sz="1400" dirty="0" err="1"/>
              <a:t>evenueShield</a:t>
            </a:r>
            <a:r>
              <a:rPr lang="en-US" sz="1400" dirty="0"/>
              <a:t> provides a complete analytical workflow combining:</a:t>
            </a:r>
          </a:p>
          <a:p>
            <a:r>
              <a:rPr lang="en-US" sz="1400" b="1" dirty="0"/>
              <a:t>Data cleaning</a:t>
            </a:r>
            <a:r>
              <a:rPr lang="en-US" sz="1400" dirty="0"/>
              <a:t> to ensure accuracy and consistency</a:t>
            </a:r>
          </a:p>
          <a:p>
            <a:r>
              <a:rPr lang="en-US" sz="1400" b="1" dirty="0"/>
              <a:t>Comparative segment analysis</a:t>
            </a:r>
            <a:r>
              <a:rPr lang="en-US" sz="1400" dirty="0"/>
              <a:t> using Excel PivotTables</a:t>
            </a:r>
          </a:p>
          <a:p>
            <a:r>
              <a:rPr lang="en-US" sz="1400" b="1" dirty="0"/>
              <a:t>Interactive dashboards</a:t>
            </a:r>
            <a:r>
              <a:rPr lang="en-US" sz="1400" dirty="0"/>
              <a:t> to visualize churn patterns</a:t>
            </a:r>
          </a:p>
          <a:p>
            <a:r>
              <a:rPr lang="en-US" sz="1400" b="1" dirty="0"/>
              <a:t>A Copilot-powered Churn‑Assessment Agent</a:t>
            </a:r>
            <a:r>
              <a:rPr lang="en-US" sz="1400" dirty="0"/>
              <a:t> using rule‑based logic The system identifies high‑risk customer groups, explains churn drivers, and provides actionable retention recommendations without requiring machine learning.</a:t>
            </a:r>
          </a:p>
          <a:p>
            <a:pPr marL="0" indent="0">
              <a:buNone/>
            </a:pPr>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r>
              <a:rPr lang="en-US" sz="1600" dirty="0"/>
              <a:t>Telco Customer Churn dataset (7,043 records) from Kaggle</a:t>
            </a: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flipV="1">
            <a:off x="7399560" y="1654680"/>
            <a:ext cx="1385488" cy="45719"/>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lvl="0" eaLnBrk="0" fontAlgn="base" hangingPunct="0">
              <a:spcBef>
                <a:spcPct val="0"/>
              </a:spcBef>
              <a:spcAft>
                <a:spcPct val="0"/>
              </a:spcAft>
            </a:pPr>
            <a:r>
              <a:rPr lang="en-US" altLang="en-US" sz="1600" dirty="0">
                <a:latin typeface="Arial" panose="020B0604020202020204" pitchFamily="34" charset="0"/>
              </a:rPr>
              <a:t>Copilot Studio used to build a rule‑based churn‑assessment agent</a:t>
            </a:r>
          </a:p>
          <a:p>
            <a:pPr lvl="0" eaLnBrk="0" fontAlgn="base" hangingPunct="0">
              <a:spcBef>
                <a:spcPct val="0"/>
              </a:spcBef>
              <a:spcAft>
                <a:spcPct val="0"/>
              </a:spcAft>
            </a:pPr>
            <a:r>
              <a:rPr lang="en-US" altLang="en-US" sz="1600" dirty="0">
                <a:latin typeface="Arial" panose="020B0604020202020204" pitchFamily="34" charset="0"/>
              </a:rPr>
              <a:t>Agent classifies customers into High / Medium / Low risk</a:t>
            </a:r>
          </a:p>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578808" y="3448669"/>
            <a:ext cx="4023360" cy="1188720"/>
          </a:xfrm>
          <a:prstGeom prst="rect">
            <a:avLst/>
          </a:prstGeom>
          <a:noFill/>
          <a:ln/>
        </p:spPr>
        <p:txBody>
          <a:bodyPr wrap="square" rtlCol="0" anchor="t"/>
          <a:lstStyle/>
          <a:p>
            <a:pPr lvl="0" eaLnBrk="0" fontAlgn="base" hangingPunct="0">
              <a:spcBef>
                <a:spcPct val="0"/>
              </a:spcBef>
              <a:spcAft>
                <a:spcPct val="0"/>
              </a:spcAft>
              <a:buFontTx/>
              <a:buChar char="•"/>
            </a:pPr>
            <a:r>
              <a:rPr lang="en-US" altLang="en-US" sz="1600" dirty="0">
                <a:latin typeface="Arial" panose="020B0604020202020204" pitchFamily="34" charset="0"/>
              </a:rPr>
              <a:t>Excel dashboards showing churn by contract, tenure, monthly charges, payment method, and internet service</a:t>
            </a:r>
          </a:p>
          <a:p>
            <a:pPr lvl="0" eaLnBrk="0" fontAlgn="base" hangingPunct="0">
              <a:spcBef>
                <a:spcPct val="0"/>
              </a:spcBef>
              <a:spcAft>
                <a:spcPct val="0"/>
              </a:spcAft>
              <a:buFontTx/>
              <a:buChar char="•"/>
            </a:pPr>
            <a:r>
              <a:rPr lang="en-US" altLang="en-US" sz="1600" dirty="0">
                <a:latin typeface="Arial" panose="020B0604020202020204" pitchFamily="34" charset="0"/>
              </a:rPr>
              <a:t>AI-generated churn‑risk explanations and retention suggestions</a:t>
            </a:r>
          </a:p>
          <a:p>
            <a:pPr marL="0" indent="0">
              <a:buNone/>
            </a:pPr>
            <a:endParaRPr lang="en-US" sz="1600" dirty="0">
              <a:latin typeface="Lato" panose="020F0502020204030203" pitchFamily="34" charset="0"/>
              <a:cs typeface="Arial" panose="020B0604020202020204" pitchFamily="34" charset="0"/>
            </a:endParaRPr>
          </a:p>
        </p:txBody>
      </p:sp>
      <p:sp>
        <p:nvSpPr>
          <p:cNvPr id="23" name="Rectangle 4">
            <a:extLst>
              <a:ext uri="{FF2B5EF4-FFF2-40B4-BE49-F238E27FC236}">
                <a16:creationId xmlns:a16="http://schemas.microsoft.com/office/drawing/2014/main" id="{2D6B9433-2613-C813-3D3C-F8127F35710C}"/>
              </a:ext>
            </a:extLst>
          </p:cNvPr>
          <p:cNvSpPr>
            <a:spLocks noChangeArrowheads="1"/>
          </p:cNvSpPr>
          <p:nvPr/>
        </p:nvSpPr>
        <p:spPr bwMode="auto">
          <a:xfrm rot="10800000" flipV="1">
            <a:off x="4572000" y="1705540"/>
            <a:ext cx="4431708"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Data cleaning: handling missing values, fixing data types, standardizing categories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PivotTables for segmentation by tenure, contract type, billing method, payment method, and service usage</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74320" y="2196877"/>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1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2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3 here — what this demo shows, key features, and results achieved.]</a:t>
            </a:r>
            <a:endParaRPr lang="en-US" sz="1600" dirty="0">
              <a:latin typeface="Lato" panose="020F0502020204030203" pitchFamily="34" charset="0"/>
              <a:cs typeface="Arial" panose="020B0604020202020204" pitchFamily="34" charset="0"/>
            </a:endParaRPr>
          </a:p>
        </p:txBody>
      </p:sp>
      <p:pic>
        <p:nvPicPr>
          <p:cNvPr id="8" name="Picture 7">
            <a:extLst>
              <a:ext uri="{FF2B5EF4-FFF2-40B4-BE49-F238E27FC236}">
                <a16:creationId xmlns:a16="http://schemas.microsoft.com/office/drawing/2014/main" id="{F86925E0-5FBF-D1E1-2E6D-E9D98D4A694E}"/>
              </a:ext>
            </a:extLst>
          </p:cNvPr>
          <p:cNvPicPr>
            <a:picLocks noChangeAspect="1"/>
          </p:cNvPicPr>
          <p:nvPr/>
        </p:nvPicPr>
        <p:blipFill>
          <a:blip r:embed="rId4"/>
          <a:stretch>
            <a:fillRect/>
          </a:stretch>
        </p:blipFill>
        <p:spPr>
          <a:xfrm>
            <a:off x="274320" y="2196877"/>
            <a:ext cx="2779775" cy="2659830"/>
          </a:xfrm>
          <a:prstGeom prst="rect">
            <a:avLst/>
          </a:prstGeom>
        </p:spPr>
      </p:pic>
      <p:pic>
        <p:nvPicPr>
          <p:cNvPr id="24" name="Picture 23">
            <a:extLst>
              <a:ext uri="{FF2B5EF4-FFF2-40B4-BE49-F238E27FC236}">
                <a16:creationId xmlns:a16="http://schemas.microsoft.com/office/drawing/2014/main" id="{D0C6885C-5C0B-EAF9-6166-23B62EDA8F02}"/>
              </a:ext>
            </a:extLst>
          </p:cNvPr>
          <p:cNvPicPr>
            <a:picLocks noChangeAspect="1"/>
          </p:cNvPicPr>
          <p:nvPr/>
        </p:nvPicPr>
        <p:blipFill>
          <a:blip r:embed="rId5"/>
          <a:stretch>
            <a:fillRect/>
          </a:stretch>
        </p:blipFill>
        <p:spPr>
          <a:xfrm>
            <a:off x="6181344" y="2196877"/>
            <a:ext cx="2788920" cy="2651760"/>
          </a:xfrm>
          <a:prstGeom prst="rect">
            <a:avLst/>
          </a:prstGeom>
        </p:spPr>
      </p:pic>
      <p:pic>
        <p:nvPicPr>
          <p:cNvPr id="5" name="Picture 4">
            <a:extLst>
              <a:ext uri="{FF2B5EF4-FFF2-40B4-BE49-F238E27FC236}">
                <a16:creationId xmlns:a16="http://schemas.microsoft.com/office/drawing/2014/main" id="{3DA4FBCE-5D83-8610-4F8C-4A4FCB834698}"/>
              </a:ext>
            </a:extLst>
          </p:cNvPr>
          <p:cNvPicPr>
            <a:picLocks noChangeAspect="1"/>
          </p:cNvPicPr>
          <p:nvPr/>
        </p:nvPicPr>
        <p:blipFill>
          <a:blip r:embed="rId6"/>
          <a:stretch>
            <a:fillRect/>
          </a:stretch>
        </p:blipFill>
        <p:spPr>
          <a:xfrm>
            <a:off x="3172966" y="2200479"/>
            <a:ext cx="2852930" cy="2648158"/>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2" name="Text 10"/>
          <p:cNvSpPr/>
          <p:nvPr/>
        </p:nvSpPr>
        <p:spPr>
          <a:xfrm>
            <a:off x="1403604" y="480060"/>
            <a:ext cx="4992624" cy="921808"/>
          </a:xfrm>
          <a:prstGeom prst="rect">
            <a:avLst/>
          </a:prstGeom>
          <a:noFill/>
          <a:ln/>
        </p:spPr>
        <p:txBody>
          <a:bodyPr wrap="square" rtlCol="0" anchor="ctr"/>
          <a:lstStyle/>
          <a:p>
            <a:r>
              <a:rPr lang="en-US" sz="900" u="sng" dirty="0">
                <a:hlinkClick r:id="rId4"/>
              </a:rPr>
              <a:t>https://1drv.ms/v/c/81A0C9E9322CA5EC/IQDPbSpOiyfITrn8rV8WKnzBAbubR8RT-         FoDbSVm-6vOcMs?e=9fU5ZS</a:t>
            </a:r>
            <a:r>
              <a:rPr lang="en-US" sz="900" dirty="0"/>
              <a:t> </a:t>
            </a:r>
          </a:p>
          <a:p>
            <a:pPr marL="0" indent="0">
              <a:buNone/>
            </a:pP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r>
              <a:rPr lang="en-US" sz="1400" dirty="0"/>
              <a:t>The project successfully identified key churn‑influencing factors such as contract type, tenure, billing behavior, and service usage. High‑risk segments—especially month‑to‑month contract users, short‑tenure customers, and electronic‑check payers—were clearly highlighted. The Copilot Agent improved churn‑risk classification accuracy to </a:t>
            </a:r>
            <a:r>
              <a:rPr lang="en-US" sz="1400" b="1" dirty="0"/>
              <a:t>80–90%</a:t>
            </a:r>
            <a:r>
              <a:rPr lang="en-US" sz="1400" dirty="0"/>
              <a:t>, providing consistent and business‑friendly insights. Interactive dashboards enhanced decision‑making efficiency by </a:t>
            </a:r>
            <a:r>
              <a:rPr lang="en-US" sz="1400" b="1" dirty="0"/>
              <a:t>30–50%</a:t>
            </a:r>
            <a:r>
              <a:rPr lang="en-US" sz="1400" dirty="0"/>
              <a:t>. Overall, the project delivered a practical, scalable, and AI‑assisted churn‑evaluation framework.</a:t>
            </a:r>
          </a:p>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536716"/>
            <a:ext cx="8229600" cy="515757"/>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
        <p:nvSpPr>
          <p:cNvPr id="5" name="Rectangle 2">
            <a:extLst>
              <a:ext uri="{FF2B5EF4-FFF2-40B4-BE49-F238E27FC236}">
                <a16:creationId xmlns:a16="http://schemas.microsoft.com/office/drawing/2014/main" id="{018A82B9-37D0-0453-5663-29C7122A87C2}"/>
              </a:ext>
            </a:extLst>
          </p:cNvPr>
          <p:cNvSpPr>
            <a:spLocks noChangeArrowheads="1"/>
          </p:cNvSpPr>
          <p:nvPr/>
        </p:nvSpPr>
        <p:spPr bwMode="auto">
          <a:xfrm rot="10800000" flipV="1">
            <a:off x="123247" y="1219026"/>
            <a:ext cx="5956852"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Integrate machine‑learning models for predictive churn forecasting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Add Power BI dashboards for advanced visualizations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Connect to real‑time telecom databases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Expand Copilot Agent to include personalized retention strategies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Deploy as a web or mobile application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Automate periodic churn‑summary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Include financial impact analysis for revenue‑loss estimation</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TotalTime>
  <Words>747</Words>
  <Application>Microsoft Office PowerPoint</Application>
  <PresentationFormat>On-screen Show (16:9)</PresentationFormat>
  <Paragraphs>77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Sree Divya Koka</cp:lastModifiedBy>
  <cp:revision>37</cp:revision>
  <dcterms:created xsi:type="dcterms:W3CDTF">2026-02-18T09:17:23Z</dcterms:created>
  <dcterms:modified xsi:type="dcterms:W3CDTF">2026-04-10T15:36:25Z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